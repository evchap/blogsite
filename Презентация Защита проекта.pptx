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10.jpeg" ContentType="image/jpeg"/>
  <Override PartName="/ppt/media/image6.jpeg" ContentType="image/jpeg"/>
  <Override PartName="/ppt/media/image7.jpeg" ContentType="image/jpeg"/>
  <Override PartName="/ppt/media/image11.png" ContentType="image/png"/>
  <Override PartName="/ppt/media/image8.jpeg" ContentType="image/jpeg"/>
  <Override PartName="/ppt/media/image9.jpeg" ContentType="image/jpeg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4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4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9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0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1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3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8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9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0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7.jpeg"/><Relationship Id="rId3" Type="http://schemas.openxmlformats.org/officeDocument/2006/relationships/image" Target="../media/image8.jpeg"/><Relationship Id="rId4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Relationship Id="rId9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7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0;p2" descr=""/>
          <p:cNvPicPr/>
          <p:nvPr/>
        </p:nvPicPr>
        <p:blipFill>
          <a:blip r:embed="rId3"/>
          <a:stretch/>
        </p:blipFill>
        <p:spPr>
          <a:xfrm>
            <a:off x="-18000" y="-13320"/>
            <a:ext cx="9179280" cy="6884280"/>
          </a:xfrm>
          <a:prstGeom prst="rect">
            <a:avLst/>
          </a:prstGeom>
          <a:ln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956160" y="528480"/>
            <a:ext cx="7695000" cy="5453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</a:t>
            </a:r>
            <a:r>
              <a:rPr b="0" lang="en-US" sz="1800" spc="-1" strike="noStrike">
                <a:latin typeface="Arial"/>
              </a:rPr>
              <a:t>ck </a:t>
            </a:r>
            <a:r>
              <a:rPr b="0" lang="en-US" sz="1800" spc="-1" strike="noStrike">
                <a:latin typeface="Arial"/>
              </a:rPr>
              <a:t>to </a:t>
            </a:r>
            <a:r>
              <a:rPr b="0" lang="en-US" sz="1800" spc="-1" strike="noStrike">
                <a:latin typeface="Arial"/>
              </a:rPr>
              <a:t>ed</a:t>
            </a:r>
            <a:r>
              <a:rPr b="0" lang="en-US" sz="1800" spc="-1" strike="noStrike">
                <a:latin typeface="Arial"/>
              </a:rPr>
              <a:t>it </a:t>
            </a:r>
            <a:r>
              <a:rPr b="0" lang="en-US" sz="1800" spc="-1" strike="noStrike">
                <a:latin typeface="Arial"/>
              </a:rPr>
              <a:t>th</a:t>
            </a:r>
            <a:r>
              <a:rPr b="0" lang="en-US" sz="1800" spc="-1" strike="noStrike">
                <a:latin typeface="Arial"/>
              </a:rPr>
              <a:t>e </a:t>
            </a:r>
            <a:r>
              <a:rPr b="0" lang="en-US" sz="1800" spc="-1" strike="noStrike">
                <a:latin typeface="Arial"/>
              </a:rPr>
              <a:t>titl</a:t>
            </a:r>
            <a:r>
              <a:rPr b="0" lang="en-US" sz="1800" spc="-1" strike="noStrike">
                <a:latin typeface="Arial"/>
              </a:rPr>
              <a:t>e </a:t>
            </a:r>
            <a:r>
              <a:rPr b="0" lang="en-US" sz="1800" spc="-1" strike="noStrike">
                <a:latin typeface="Arial"/>
              </a:rPr>
              <a:t>tex</a:t>
            </a:r>
            <a:r>
              <a:rPr b="0" lang="en-US" sz="1800" spc="-1" strike="noStrike">
                <a:latin typeface="Arial"/>
              </a:rPr>
              <a:t>t </a:t>
            </a:r>
            <a:r>
              <a:rPr b="0" lang="en-US" sz="1800" spc="-1" strike="noStrike">
                <a:latin typeface="Arial"/>
              </a:rPr>
              <a:t>for</a:t>
            </a:r>
            <a:r>
              <a:rPr b="0" lang="en-US" sz="1800" spc="-1" strike="noStrike">
                <a:latin typeface="Arial"/>
              </a:rPr>
              <a:t>m</a:t>
            </a:r>
            <a:r>
              <a:rPr b="0" lang="en-US" sz="1800" spc="-1" strike="noStrike">
                <a:latin typeface="Arial"/>
              </a:rPr>
              <a:t>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956160" y="528480"/>
            <a:ext cx="7695000" cy="5453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</a:t>
            </a:r>
            <a:r>
              <a:rPr b="0" lang="en-US" sz="1800" spc="-1" strike="noStrike">
                <a:latin typeface="Arial"/>
              </a:rPr>
              <a:t>ck </a:t>
            </a:r>
            <a:r>
              <a:rPr b="0" lang="en-US" sz="1800" spc="-1" strike="noStrike">
                <a:latin typeface="Arial"/>
              </a:rPr>
              <a:t>to </a:t>
            </a:r>
            <a:r>
              <a:rPr b="0" lang="en-US" sz="1800" spc="-1" strike="noStrike">
                <a:latin typeface="Arial"/>
              </a:rPr>
              <a:t>ed</a:t>
            </a:r>
            <a:r>
              <a:rPr b="0" lang="en-US" sz="1800" spc="-1" strike="noStrike">
                <a:latin typeface="Arial"/>
              </a:rPr>
              <a:t>it </a:t>
            </a:r>
            <a:r>
              <a:rPr b="0" lang="en-US" sz="1800" spc="-1" strike="noStrike">
                <a:latin typeface="Arial"/>
              </a:rPr>
              <a:t>th</a:t>
            </a:r>
            <a:r>
              <a:rPr b="0" lang="en-US" sz="1800" spc="-1" strike="noStrike">
                <a:latin typeface="Arial"/>
              </a:rPr>
              <a:t>e </a:t>
            </a:r>
            <a:r>
              <a:rPr b="0" lang="en-US" sz="1800" spc="-1" strike="noStrike">
                <a:latin typeface="Arial"/>
              </a:rPr>
              <a:t>titl</a:t>
            </a:r>
            <a:r>
              <a:rPr b="0" lang="en-US" sz="1800" spc="-1" strike="noStrike">
                <a:latin typeface="Arial"/>
              </a:rPr>
              <a:t>e </a:t>
            </a:r>
            <a:r>
              <a:rPr b="0" lang="en-US" sz="1800" spc="-1" strike="noStrike">
                <a:latin typeface="Arial"/>
              </a:rPr>
              <a:t>tex</a:t>
            </a:r>
            <a:r>
              <a:rPr b="0" lang="en-US" sz="1800" spc="-1" strike="noStrike">
                <a:latin typeface="Arial"/>
              </a:rPr>
              <a:t>t </a:t>
            </a:r>
            <a:r>
              <a:rPr b="0" lang="en-US" sz="1800" spc="-1" strike="noStrike">
                <a:latin typeface="Arial"/>
              </a:rPr>
              <a:t>for</a:t>
            </a:r>
            <a:r>
              <a:rPr b="0" lang="en-US" sz="1800" spc="-1" strike="noStrike">
                <a:latin typeface="Arial"/>
              </a:rPr>
              <a:t>m</a:t>
            </a:r>
            <a:r>
              <a:rPr b="0" lang="en-US" sz="1800" spc="-1" strike="noStrike">
                <a:latin typeface="Arial"/>
              </a:rPr>
              <a:t>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956160" y="528480"/>
            <a:ext cx="7695000" cy="5453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</a:t>
            </a:r>
            <a:r>
              <a:rPr b="0" lang="en-US" sz="4400" spc="-1" strike="noStrike">
                <a:latin typeface="Arial"/>
              </a:rPr>
              <a:t>li</a:t>
            </a:r>
            <a:r>
              <a:rPr b="0" lang="en-US" sz="4400" spc="-1" strike="noStrike">
                <a:latin typeface="Arial"/>
              </a:rPr>
              <a:t>c</a:t>
            </a:r>
            <a:r>
              <a:rPr b="0" lang="en-US" sz="4400" spc="-1" strike="noStrike">
                <a:latin typeface="Arial"/>
              </a:rPr>
              <a:t>k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o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d</a:t>
            </a:r>
            <a:r>
              <a:rPr b="0" lang="en-US" sz="4400" spc="-1" strike="noStrike">
                <a:latin typeface="Arial"/>
              </a:rPr>
              <a:t>it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h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ti</a:t>
            </a:r>
            <a:r>
              <a:rPr b="0" lang="en-US" sz="4400" spc="-1" strike="noStrike">
                <a:latin typeface="Arial"/>
              </a:rPr>
              <a:t>tl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x</a:t>
            </a:r>
            <a:r>
              <a:rPr b="0" lang="en-US" sz="4400" spc="-1" strike="noStrike">
                <a:latin typeface="Arial"/>
              </a:rPr>
              <a:t>t </a:t>
            </a:r>
            <a:r>
              <a:rPr b="0" lang="en-US" sz="4400" spc="-1" strike="noStrike">
                <a:latin typeface="Arial"/>
              </a:rPr>
              <a:t>f</a:t>
            </a:r>
            <a:r>
              <a:rPr b="0" lang="en-US" sz="4400" spc="-1" strike="noStrike">
                <a:latin typeface="Arial"/>
              </a:rPr>
              <a:t>o</a:t>
            </a:r>
            <a:r>
              <a:rPr b="0" lang="en-US" sz="4400" spc="-1" strike="noStrike">
                <a:latin typeface="Arial"/>
              </a:rPr>
              <a:t>r</a:t>
            </a:r>
            <a:r>
              <a:rPr b="0" lang="en-US" sz="4400" spc="-1" strike="noStrike">
                <a:latin typeface="Arial"/>
              </a:rPr>
              <a:t>m</a:t>
            </a:r>
            <a:r>
              <a:rPr b="0" lang="en-US" sz="4400" spc="-1" strike="noStrike">
                <a:latin typeface="Arial"/>
              </a:rPr>
              <a:t>a</a:t>
            </a:r>
            <a:r>
              <a:rPr b="0" lang="en-US" sz="4400" spc="-1" strike="noStrike">
                <a:latin typeface="Arial"/>
              </a:rPr>
              <a:t>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956160" y="528480"/>
            <a:ext cx="7695000" cy="5453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</a:t>
            </a:r>
            <a:r>
              <a:rPr b="0" lang="en-US" sz="1800" spc="-1" strike="noStrike">
                <a:latin typeface="Arial"/>
              </a:rPr>
              <a:t>ck </a:t>
            </a:r>
            <a:r>
              <a:rPr b="0" lang="en-US" sz="1800" spc="-1" strike="noStrike">
                <a:latin typeface="Arial"/>
              </a:rPr>
              <a:t>to </a:t>
            </a:r>
            <a:r>
              <a:rPr b="0" lang="en-US" sz="1800" spc="-1" strike="noStrike">
                <a:latin typeface="Arial"/>
              </a:rPr>
              <a:t>ed</a:t>
            </a:r>
            <a:r>
              <a:rPr b="0" lang="en-US" sz="1800" spc="-1" strike="noStrike">
                <a:latin typeface="Arial"/>
              </a:rPr>
              <a:t>it </a:t>
            </a:r>
            <a:r>
              <a:rPr b="0" lang="en-US" sz="1800" spc="-1" strike="noStrike">
                <a:latin typeface="Arial"/>
              </a:rPr>
              <a:t>th</a:t>
            </a:r>
            <a:r>
              <a:rPr b="0" lang="en-US" sz="1800" spc="-1" strike="noStrike">
                <a:latin typeface="Arial"/>
              </a:rPr>
              <a:t>e </a:t>
            </a:r>
            <a:r>
              <a:rPr b="0" lang="en-US" sz="1800" spc="-1" strike="noStrike">
                <a:latin typeface="Arial"/>
              </a:rPr>
              <a:t>titl</a:t>
            </a:r>
            <a:r>
              <a:rPr b="0" lang="en-US" sz="1800" spc="-1" strike="noStrike">
                <a:latin typeface="Arial"/>
              </a:rPr>
              <a:t>e </a:t>
            </a:r>
            <a:r>
              <a:rPr b="0" lang="en-US" sz="1800" spc="-1" strike="noStrike">
                <a:latin typeface="Arial"/>
              </a:rPr>
              <a:t>tex</a:t>
            </a:r>
            <a:r>
              <a:rPr b="0" lang="en-US" sz="1800" spc="-1" strike="noStrike">
                <a:latin typeface="Arial"/>
              </a:rPr>
              <a:t>t </a:t>
            </a:r>
            <a:r>
              <a:rPr b="0" lang="en-US" sz="1800" spc="-1" strike="noStrike">
                <a:latin typeface="Arial"/>
              </a:rPr>
              <a:t>for</a:t>
            </a:r>
            <a:r>
              <a:rPr b="0" lang="en-US" sz="1800" spc="-1" strike="noStrike">
                <a:latin typeface="Arial"/>
              </a:rPr>
              <a:t>m</a:t>
            </a:r>
            <a:r>
              <a:rPr b="0" lang="en-US" sz="1800" spc="-1" strike="noStrike">
                <a:latin typeface="Arial"/>
              </a:rPr>
              <a:t>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33;p7" descr=""/>
          <p:cNvPicPr/>
          <p:nvPr/>
        </p:nvPicPr>
        <p:blipFill>
          <a:blip r:embed="rId3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>
            <a:noFill/>
          </a:ln>
        </p:spPr>
      </p:pic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</a:t>
            </a:r>
            <a:r>
              <a:rPr b="0" lang="en-US" sz="4400" spc="-1" strike="noStrike">
                <a:latin typeface="Arial"/>
              </a:rPr>
              <a:t>li</a:t>
            </a:r>
            <a:r>
              <a:rPr b="0" lang="en-US" sz="4400" spc="-1" strike="noStrike">
                <a:latin typeface="Arial"/>
              </a:rPr>
              <a:t>c</a:t>
            </a:r>
            <a:r>
              <a:rPr b="0" lang="en-US" sz="4400" spc="-1" strike="noStrike">
                <a:latin typeface="Arial"/>
              </a:rPr>
              <a:t>k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o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d</a:t>
            </a:r>
            <a:r>
              <a:rPr b="0" lang="en-US" sz="4400" spc="-1" strike="noStrike">
                <a:latin typeface="Arial"/>
              </a:rPr>
              <a:t>it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h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ti</a:t>
            </a:r>
            <a:r>
              <a:rPr b="0" lang="en-US" sz="4400" spc="-1" strike="noStrike">
                <a:latin typeface="Arial"/>
              </a:rPr>
              <a:t>tl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x</a:t>
            </a:r>
            <a:r>
              <a:rPr b="0" lang="en-US" sz="4400" spc="-1" strike="noStrike">
                <a:latin typeface="Arial"/>
              </a:rPr>
              <a:t>t </a:t>
            </a:r>
            <a:r>
              <a:rPr b="0" lang="en-US" sz="4400" spc="-1" strike="noStrike">
                <a:latin typeface="Arial"/>
              </a:rPr>
              <a:t>f</a:t>
            </a:r>
            <a:r>
              <a:rPr b="0" lang="en-US" sz="4400" spc="-1" strike="noStrike">
                <a:latin typeface="Arial"/>
              </a:rPr>
              <a:t>o</a:t>
            </a:r>
            <a:r>
              <a:rPr b="0" lang="en-US" sz="4400" spc="-1" strike="noStrike">
                <a:latin typeface="Arial"/>
              </a:rPr>
              <a:t>r</a:t>
            </a:r>
            <a:r>
              <a:rPr b="0" lang="en-US" sz="4400" spc="-1" strike="noStrike">
                <a:latin typeface="Arial"/>
              </a:rPr>
              <a:t>m</a:t>
            </a:r>
            <a:r>
              <a:rPr b="0" lang="en-US" sz="4400" spc="-1" strike="noStrike">
                <a:latin typeface="Arial"/>
              </a:rPr>
              <a:t>a</a:t>
            </a:r>
            <a:r>
              <a:rPr b="0" lang="en-US" sz="4400" spc="-1" strike="noStrike">
                <a:latin typeface="Arial"/>
              </a:rPr>
              <a:t>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s://github.com/Evchap" TargetMode="External"/><Relationship Id="rId2" Type="http://schemas.openxmlformats.org/officeDocument/2006/relationships/image" Target="../media/image10.jpe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4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CustomShape 1"/>
          <p:cNvSpPr/>
          <p:nvPr/>
        </p:nvSpPr>
        <p:spPr>
          <a:xfrm>
            <a:off x="797040" y="5729400"/>
            <a:ext cx="5050800" cy="105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2100" spc="-1" strike="noStrike">
                <a:solidFill>
                  <a:srgbClr val="ffffff"/>
                </a:solidFill>
                <a:latin typeface="Roboto"/>
                <a:ea typeface="Roboto"/>
              </a:rPr>
              <a:t>otus.ru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232" name="CustomShape 2"/>
          <p:cNvSpPr/>
          <p:nvPr/>
        </p:nvSpPr>
        <p:spPr>
          <a:xfrm>
            <a:off x="797040" y="2562120"/>
            <a:ext cx="8398080" cy="336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ru" sz="6600" spc="-1" strike="noStrike">
                <a:solidFill>
                  <a:srgbClr val="ffffff"/>
                </a:solidFill>
                <a:latin typeface="Roboto"/>
                <a:ea typeface="Roboto"/>
              </a:rPr>
              <a:t>Онлайн</a:t>
            </a:r>
            <a:br/>
            <a:r>
              <a:rPr b="1" lang="ru" sz="6600" spc="-1" strike="noStrike">
                <a:solidFill>
                  <a:srgbClr val="ffffff"/>
                </a:solidFill>
                <a:latin typeface="Roboto"/>
                <a:ea typeface="Roboto"/>
              </a:rPr>
              <a:t>образование</a:t>
            </a:r>
            <a:endParaRPr b="0" lang="en-US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CustomShape 1"/>
          <p:cNvSpPr/>
          <p:nvPr/>
        </p:nvSpPr>
        <p:spPr>
          <a:xfrm>
            <a:off x="630000" y="3689640"/>
            <a:ext cx="1514160" cy="24246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CustomShape 2"/>
          <p:cNvSpPr/>
          <p:nvPr/>
        </p:nvSpPr>
        <p:spPr>
          <a:xfrm>
            <a:off x="500400" y="1095120"/>
            <a:ext cx="8519760" cy="264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</a:pPr>
            <a:r>
              <a:rPr b="1" lang="ru" sz="3700" spc="-1" strike="noStrike">
                <a:solidFill>
                  <a:srgbClr val="000000"/>
                </a:solidFill>
                <a:latin typeface="Roboto"/>
                <a:ea typeface="Roboto"/>
              </a:rPr>
              <a:t>Защита проекта</a:t>
            </a:r>
            <a:br/>
            <a:r>
              <a:rPr b="1" lang="ru" sz="3700" spc="-1" strike="noStrike">
                <a:solidFill>
                  <a:srgbClr val="000000"/>
                </a:solidFill>
                <a:latin typeface="Roboto"/>
                <a:ea typeface="Roboto"/>
              </a:rPr>
              <a:t>Тема: Blog site</a:t>
            </a:r>
            <a:br/>
            <a:endParaRPr b="0" lang="en-US" sz="3700" spc="-1" strike="noStrike">
              <a:latin typeface="Arial"/>
            </a:endParaRPr>
          </a:p>
        </p:txBody>
      </p:sp>
      <p:sp>
        <p:nvSpPr>
          <p:cNvPr id="235" name="CustomShape 3"/>
          <p:cNvSpPr/>
          <p:nvPr/>
        </p:nvSpPr>
        <p:spPr>
          <a:xfrm>
            <a:off x="3135600" y="4174920"/>
            <a:ext cx="5855760" cy="78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700" spc="-1" strike="noStrike">
                <a:solidFill>
                  <a:srgbClr val="02418b"/>
                </a:solidFill>
                <a:latin typeface="Roboto"/>
                <a:ea typeface="Roboto"/>
              </a:rPr>
              <a:t>Чапаев  Евгений  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236" name="CustomShape 4"/>
          <p:cNvSpPr/>
          <p:nvPr/>
        </p:nvSpPr>
        <p:spPr>
          <a:xfrm>
            <a:off x="3135600" y="4575240"/>
            <a:ext cx="5855760" cy="105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37" name="CustomShape 5"/>
          <p:cNvSpPr/>
          <p:nvPr/>
        </p:nvSpPr>
        <p:spPr>
          <a:xfrm>
            <a:off x="3135600" y="4737960"/>
            <a:ext cx="5855760" cy="137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rm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pc="-1" strike="noStrike">
                <a:solidFill>
                  <a:srgbClr val="000000"/>
                </a:solidFill>
                <a:latin typeface="Roboto"/>
                <a:ea typeface="Roboto"/>
              </a:rPr>
              <a:t>курс OTUS “Python Developer. Basic”, 2021.11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400" spc="-1" strike="noStrike">
                <a:solidFill>
                  <a:srgbClr val="000000"/>
                </a:solidFill>
                <a:latin typeface="Roboto"/>
                <a:ea typeface="Roboto"/>
              </a:rPr>
              <a:t>	</a:t>
            </a:r>
            <a:r>
              <a:rPr b="0" lang="ru" sz="1400" spc="-1" strike="noStrike">
                <a:solidFill>
                  <a:srgbClr val="000000"/>
                </a:solidFill>
                <a:latin typeface="Roboto"/>
                <a:ea typeface="Roboto"/>
              </a:rPr>
              <a:t>	</a:t>
            </a:r>
            <a:r>
              <a:rPr b="0" lang="ru" sz="1400" spc="-1" strike="noStrike">
                <a:solidFill>
                  <a:srgbClr val="000000"/>
                </a:solidFill>
                <a:latin typeface="Roboto"/>
                <a:ea typeface="Roboto"/>
              </a:rPr>
              <a:t>                           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38" name="" descr=""/>
          <p:cNvPicPr/>
          <p:nvPr/>
        </p:nvPicPr>
        <p:blipFill>
          <a:blip r:embed="rId1"/>
          <a:stretch/>
        </p:blipFill>
        <p:spPr>
          <a:xfrm>
            <a:off x="1097280" y="3913200"/>
            <a:ext cx="1737000" cy="19386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CustomShape 1"/>
          <p:cNvSpPr/>
          <p:nvPr/>
        </p:nvSpPr>
        <p:spPr>
          <a:xfrm>
            <a:off x="500400" y="441000"/>
            <a:ext cx="8519760" cy="749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3400" spc="-1" strike="noStrike">
                <a:solidFill>
                  <a:srgbClr val="000000"/>
                </a:solidFill>
                <a:latin typeface="Roboto"/>
                <a:ea typeface="Roboto"/>
              </a:rPr>
              <a:t>План защиты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240" name="CustomShape 2"/>
          <p:cNvSpPr/>
          <p:nvPr/>
        </p:nvSpPr>
        <p:spPr>
          <a:xfrm>
            <a:off x="680760" y="1430640"/>
            <a:ext cx="3384360" cy="50076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0000" rIns="27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500" spc="-1" strike="noStrike">
                <a:solidFill>
                  <a:srgbClr val="ffffff"/>
                </a:solidFill>
                <a:latin typeface="Roboto"/>
                <a:ea typeface="Roboto"/>
              </a:rPr>
              <a:t>Цели проекта 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41" name="CustomShape 3"/>
          <p:cNvSpPr/>
          <p:nvPr/>
        </p:nvSpPr>
        <p:spPr>
          <a:xfrm>
            <a:off x="680760" y="2254320"/>
            <a:ext cx="3384360" cy="50076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0000" rIns="27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500" spc="-1" strike="noStrike">
                <a:solidFill>
                  <a:srgbClr val="ffffff"/>
                </a:solidFill>
                <a:latin typeface="Roboto"/>
                <a:ea typeface="Roboto"/>
              </a:rPr>
              <a:t>Что планировалось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42" name="CustomShape 4"/>
          <p:cNvSpPr/>
          <p:nvPr/>
        </p:nvSpPr>
        <p:spPr>
          <a:xfrm>
            <a:off x="680760" y="3090960"/>
            <a:ext cx="3384360" cy="50076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0000" rIns="27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500" spc="-1" strike="noStrike">
                <a:solidFill>
                  <a:srgbClr val="ffffff"/>
                </a:solidFill>
                <a:latin typeface="Roboto"/>
                <a:ea typeface="Roboto"/>
              </a:rPr>
              <a:t>Используемые технологии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43" name="CustomShape 5"/>
          <p:cNvSpPr/>
          <p:nvPr/>
        </p:nvSpPr>
        <p:spPr>
          <a:xfrm>
            <a:off x="680760" y="3927960"/>
            <a:ext cx="3384360" cy="50076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0000" rIns="27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500" spc="-1" strike="noStrike">
                <a:solidFill>
                  <a:srgbClr val="ffffff"/>
                </a:solidFill>
                <a:latin typeface="Roboto"/>
                <a:ea typeface="Roboto"/>
              </a:rPr>
              <a:t>Что получилось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44" name="CustomShape 6"/>
          <p:cNvSpPr/>
          <p:nvPr/>
        </p:nvSpPr>
        <p:spPr>
          <a:xfrm>
            <a:off x="680760" y="4710240"/>
            <a:ext cx="3384360" cy="50076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0000" rIns="27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500" spc="-1" strike="noStrike">
                <a:solidFill>
                  <a:srgbClr val="ffffff"/>
                </a:solidFill>
                <a:latin typeface="Roboto"/>
                <a:ea typeface="Roboto"/>
              </a:rPr>
              <a:t>Схемы/архитектура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45" name="CustomShape 7"/>
          <p:cNvSpPr/>
          <p:nvPr/>
        </p:nvSpPr>
        <p:spPr>
          <a:xfrm>
            <a:off x="680760" y="5492160"/>
            <a:ext cx="3384360" cy="50076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270000" rIns="27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500" spc="-1" strike="noStrike">
                <a:solidFill>
                  <a:srgbClr val="ffffff"/>
                </a:solidFill>
                <a:latin typeface="Roboto"/>
                <a:ea typeface="Roboto"/>
              </a:rPr>
              <a:t>Выводы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46" name="CustomShape 8"/>
          <p:cNvSpPr/>
          <p:nvPr/>
        </p:nvSpPr>
        <p:spPr>
          <a:xfrm>
            <a:off x="680760" y="1681560"/>
            <a:ext cx="360" cy="822960"/>
          </a:xfrm>
          <a:prstGeom prst="curvedConnector3">
            <a:avLst>
              <a:gd name="adj1" fmla="val -39687500"/>
            </a:avLst>
          </a:prstGeom>
          <a:noFill/>
          <a:ln w="19080">
            <a:solidFill>
              <a:srgbClr val="013d8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CustomShape 9"/>
          <p:cNvSpPr/>
          <p:nvPr/>
        </p:nvSpPr>
        <p:spPr>
          <a:xfrm>
            <a:off x="680760" y="2504880"/>
            <a:ext cx="360" cy="836280"/>
          </a:xfrm>
          <a:prstGeom prst="curvedConnector3">
            <a:avLst>
              <a:gd name="adj1" fmla="val -39687500"/>
            </a:avLst>
          </a:prstGeom>
          <a:noFill/>
          <a:ln w="19080">
            <a:solidFill>
              <a:srgbClr val="013d8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CustomShape 10"/>
          <p:cNvSpPr/>
          <p:nvPr/>
        </p:nvSpPr>
        <p:spPr>
          <a:xfrm>
            <a:off x="680760" y="3341880"/>
            <a:ext cx="360" cy="836280"/>
          </a:xfrm>
          <a:prstGeom prst="curvedConnector3">
            <a:avLst>
              <a:gd name="adj1" fmla="val -39687500"/>
            </a:avLst>
          </a:prstGeom>
          <a:noFill/>
          <a:ln w="19080">
            <a:solidFill>
              <a:srgbClr val="013d8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CustomShape 11"/>
          <p:cNvSpPr/>
          <p:nvPr/>
        </p:nvSpPr>
        <p:spPr>
          <a:xfrm>
            <a:off x="680760" y="4219200"/>
            <a:ext cx="360" cy="836280"/>
          </a:xfrm>
          <a:prstGeom prst="curvedConnector3">
            <a:avLst>
              <a:gd name="adj1" fmla="val -39687500"/>
            </a:avLst>
          </a:prstGeom>
          <a:noFill/>
          <a:ln w="19080">
            <a:solidFill>
              <a:srgbClr val="013d8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CustomShape 12"/>
          <p:cNvSpPr/>
          <p:nvPr/>
        </p:nvSpPr>
        <p:spPr>
          <a:xfrm>
            <a:off x="680760" y="5096520"/>
            <a:ext cx="360" cy="836280"/>
          </a:xfrm>
          <a:prstGeom prst="curvedConnector3">
            <a:avLst>
              <a:gd name="adj1" fmla="val -39687500"/>
            </a:avLst>
          </a:prstGeom>
          <a:noFill/>
          <a:ln w="19080">
            <a:solidFill>
              <a:srgbClr val="013d8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CustomShape 1"/>
          <p:cNvSpPr/>
          <p:nvPr/>
        </p:nvSpPr>
        <p:spPr>
          <a:xfrm>
            <a:off x="500400" y="441000"/>
            <a:ext cx="8519760" cy="130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3400" spc="-1" strike="noStrike">
                <a:solidFill>
                  <a:srgbClr val="000000"/>
                </a:solidFill>
                <a:latin typeface="Roboto"/>
                <a:ea typeface="Roboto"/>
              </a:rPr>
              <a:t>Цели проекта</a:t>
            </a:r>
            <a:endParaRPr b="0" lang="en-US" sz="3400" spc="-1" strike="noStrike">
              <a:latin typeface="Arial"/>
            </a:endParaRPr>
          </a:p>
        </p:txBody>
      </p:sp>
      <p:graphicFrame>
        <p:nvGraphicFramePr>
          <p:cNvPr id="252" name="Table 2"/>
          <p:cNvGraphicFramePr/>
          <p:nvPr/>
        </p:nvGraphicFramePr>
        <p:xfrm>
          <a:off x="939240" y="2058480"/>
          <a:ext cx="7238160" cy="2742840"/>
        </p:xfrm>
        <a:graphic>
          <a:graphicData uri="http://schemas.openxmlformats.org/drawingml/2006/table">
            <a:tbl>
              <a:tblPr/>
              <a:tblGrid>
                <a:gridCol w="489240"/>
                <a:gridCol w="6749280"/>
              </a:tblGrid>
              <a:tr h="68580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700" spc="-1" strike="noStrike">
                          <a:solidFill>
                            <a:srgbClr val="013d85"/>
                          </a:solidFill>
                          <a:latin typeface="Roboto"/>
                          <a:ea typeface="Roboto"/>
                        </a:rPr>
                        <a:t>1.  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999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Создание блог-сайта.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999cc"/>
                    </a:solidFill>
                  </a:tcPr>
                </a:tc>
              </a:tr>
              <a:tr h="68580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700" spc="-1" strike="noStrike">
                          <a:solidFill>
                            <a:srgbClr val="013d85"/>
                          </a:solidFill>
                          <a:latin typeface="Roboto"/>
                          <a:ea typeface="Roboto"/>
                        </a:rPr>
                        <a:t>2.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Работа с фреймворком Django.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</a:tr>
              <a:tr h="68580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700" spc="-1" strike="noStrike">
                          <a:solidFill>
                            <a:srgbClr val="013d85"/>
                          </a:solidFill>
                          <a:latin typeface="Roboto"/>
                          <a:ea typeface="Roboto"/>
                        </a:rPr>
                        <a:t>3.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Создание архитектуры сайта: моделей, БД, связей между моделями, шаблонов, статических файлов и т.д.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700" spc="-1" strike="noStrike">
                          <a:solidFill>
                            <a:srgbClr val="013d85"/>
                          </a:solidFill>
                          <a:latin typeface="Roboto"/>
                          <a:ea typeface="Roboto"/>
                        </a:rPr>
                        <a:t>4.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Создание админ-панели, возможностей для пользователя: выбора статей по категориям, регистрации, добавления новых статей и т.д.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CustomShape 1"/>
          <p:cNvSpPr/>
          <p:nvPr/>
        </p:nvSpPr>
        <p:spPr>
          <a:xfrm>
            <a:off x="500400" y="441000"/>
            <a:ext cx="8519760" cy="130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3400" spc="-1" strike="noStrike">
                <a:solidFill>
                  <a:srgbClr val="000000"/>
                </a:solidFill>
                <a:latin typeface="Roboto"/>
                <a:ea typeface="Roboto"/>
              </a:rPr>
              <a:t>Что планировалось</a:t>
            </a:r>
            <a:endParaRPr b="0" lang="en-US" sz="3400" spc="-1" strike="noStrike">
              <a:latin typeface="Arial"/>
            </a:endParaRPr>
          </a:p>
        </p:txBody>
      </p:sp>
      <p:graphicFrame>
        <p:nvGraphicFramePr>
          <p:cNvPr id="254" name="Table 2"/>
          <p:cNvGraphicFramePr/>
          <p:nvPr/>
        </p:nvGraphicFramePr>
        <p:xfrm>
          <a:off x="952560" y="2058840"/>
          <a:ext cx="7238160" cy="2057040"/>
        </p:xfrm>
        <a:graphic>
          <a:graphicData uri="http://schemas.openxmlformats.org/drawingml/2006/table">
            <a:tbl>
              <a:tblPr/>
              <a:tblGrid>
                <a:gridCol w="489240"/>
                <a:gridCol w="6749280"/>
              </a:tblGrid>
              <a:tr h="68580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700" spc="-1" strike="noStrike">
                          <a:solidFill>
                            <a:srgbClr val="013d85"/>
                          </a:solidFill>
                          <a:latin typeface="Roboto"/>
                          <a:ea typeface="Roboto"/>
                        </a:rPr>
                        <a:t>1.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До курса </a:t>
                      </a:r>
                      <a:r>
                        <a:rPr b="0" lang="en-US" sz="1800" spc="-1" strike="noStrike">
                          <a:latin typeface="Arial"/>
                          <a:ea typeface="Noto Sans CJK SC"/>
                        </a:rPr>
                        <a:t>OTUS “Python Developer. Basic” знал только синтаксис Python.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999ff"/>
                    </a:solidFill>
                  </a:tcPr>
                </a:tc>
              </a:tr>
              <a:tr h="68580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700" spc="-1" strike="noStrike">
                          <a:solidFill>
                            <a:srgbClr val="013d85"/>
                          </a:solidFill>
                          <a:latin typeface="Roboto"/>
                          <a:ea typeface="Roboto"/>
                        </a:rPr>
                        <a:t>2.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На курсе изучил материал, необходимый для работы 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back-end developer: как заниматься программно-административной частью веб-приложения, внутренним содержанием системы, серверными технологиями — базой данных, архитектурой, программной логикой. 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ff"/>
                    </a:solidFill>
                  </a:tcPr>
                </a:tc>
              </a:tr>
              <a:tr h="68580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700" spc="-1" strike="noStrike">
                          <a:solidFill>
                            <a:srgbClr val="013d85"/>
                          </a:solidFill>
                          <a:latin typeface="Roboto"/>
                          <a:ea typeface="Roboto"/>
                        </a:rPr>
                        <a:t>3.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Выполнение проектной работы заняло 2 недели.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CustomShape 1"/>
          <p:cNvSpPr/>
          <p:nvPr/>
        </p:nvSpPr>
        <p:spPr>
          <a:xfrm>
            <a:off x="500400" y="441000"/>
            <a:ext cx="8519760" cy="655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3400" spc="-1" strike="noStrike">
                <a:solidFill>
                  <a:srgbClr val="000000"/>
                </a:solidFill>
                <a:latin typeface="Roboto"/>
                <a:ea typeface="Roboto"/>
              </a:rPr>
              <a:t>Используемые технологии</a:t>
            </a:r>
            <a:endParaRPr b="0" lang="en-US" sz="3400" spc="-1" strike="noStrike">
              <a:latin typeface="Arial"/>
            </a:endParaRPr>
          </a:p>
        </p:txBody>
      </p:sp>
      <p:graphicFrame>
        <p:nvGraphicFramePr>
          <p:cNvPr id="256" name="Table 2"/>
          <p:cNvGraphicFramePr/>
          <p:nvPr/>
        </p:nvGraphicFramePr>
        <p:xfrm>
          <a:off x="906120" y="1808280"/>
          <a:ext cx="7238160" cy="2801520"/>
        </p:xfrm>
        <a:graphic>
          <a:graphicData uri="http://schemas.openxmlformats.org/drawingml/2006/table">
            <a:tbl>
              <a:tblPr/>
              <a:tblGrid>
                <a:gridCol w="489240"/>
                <a:gridCol w="6749280"/>
              </a:tblGrid>
              <a:tr h="3524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700" spc="-1" strike="noStrike">
                          <a:solidFill>
                            <a:srgbClr val="013d85"/>
                          </a:solidFill>
                          <a:latin typeface="Roboto"/>
                          <a:ea typeface="Roboto"/>
                        </a:rPr>
                        <a:t>1. 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999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  <a:ea typeface="Noto Sans CJK SC"/>
                        </a:rPr>
                        <a:t>язык: Python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999cc"/>
                    </a:solidFill>
                  </a:tcPr>
                </a:tc>
              </a:tr>
              <a:tr h="3499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700" spc="-1" strike="noStrike">
                          <a:solidFill>
                            <a:srgbClr val="013d85"/>
                          </a:solidFill>
                          <a:latin typeface="Roboto"/>
                          <a:ea typeface="Roboto"/>
                        </a:rPr>
                        <a:t>2.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  <a:ea typeface="Noto Sans CJK SC"/>
                        </a:rPr>
                        <a:t>фреймворк: Django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</a:tr>
              <a:tr h="3499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700" spc="-1" strike="noStrike">
                          <a:solidFill>
                            <a:srgbClr val="013d85"/>
                          </a:solidFill>
                          <a:latin typeface="Roboto"/>
                          <a:ea typeface="Roboto"/>
                        </a:rPr>
                        <a:t>3.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  <a:ea typeface="Noto Sans CJK SC"/>
                        </a:rPr>
                        <a:t>SQL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99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700" spc="-1" strike="noStrike">
                          <a:solidFill>
                            <a:srgbClr val="013d85"/>
                          </a:solidFill>
                          <a:latin typeface="Roboto"/>
                          <a:ea typeface="Roboto"/>
                        </a:rPr>
                        <a:t>4.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  <a:ea typeface="Noto Sans CJK SC"/>
                        </a:rPr>
                        <a:t>СУБД: SQLite3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</a:tr>
              <a:tr h="3499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700" spc="-1" strike="noStrike">
                          <a:solidFill>
                            <a:srgbClr val="013d85"/>
                          </a:solidFill>
                          <a:latin typeface="Roboto"/>
                          <a:ea typeface="Roboto"/>
                        </a:rPr>
                        <a:t>5.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  <a:ea typeface="Noto Sans CJK SC"/>
                        </a:rPr>
                        <a:t>ListView, DetailView, CreateView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99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700" spc="-1" strike="noStrike">
                          <a:solidFill>
                            <a:srgbClr val="013d85"/>
                          </a:solidFill>
                          <a:latin typeface="Roboto"/>
                          <a:ea typeface="Roboto"/>
                        </a:rPr>
                        <a:t>6.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  <a:ea typeface="Noto Sans CJK SC"/>
                        </a:rPr>
                        <a:t>Mixins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</a:tr>
              <a:tr h="3499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700" spc="-1" strike="noStrike">
                          <a:solidFill>
                            <a:srgbClr val="013d85"/>
                          </a:solidFill>
                          <a:latin typeface="Roboto"/>
                          <a:ea typeface="Roboto"/>
                        </a:rPr>
                        <a:t>7.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  <a:ea typeface="Noto Sans CJK SC"/>
                        </a:rPr>
                        <a:t>верстка: HTML, CSS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CustomShape 1"/>
          <p:cNvSpPr/>
          <p:nvPr/>
        </p:nvSpPr>
        <p:spPr>
          <a:xfrm>
            <a:off x="500400" y="441000"/>
            <a:ext cx="8519760" cy="130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3400" spc="-1" strike="noStrike">
                <a:solidFill>
                  <a:srgbClr val="000000"/>
                </a:solidFill>
                <a:latin typeface="Roboto"/>
                <a:ea typeface="Roboto"/>
              </a:rPr>
              <a:t>Что получилось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258" name="CustomShape 2"/>
          <p:cNvSpPr/>
          <p:nvPr/>
        </p:nvSpPr>
        <p:spPr>
          <a:xfrm>
            <a:off x="548640" y="5394960"/>
            <a:ext cx="7314840" cy="63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rmAutofit fontScale="51000"/>
          </a:bodyPr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" sz="1700" spc="-1" strike="noStrike">
                <a:solidFill>
                  <a:srgbClr val="000000"/>
                </a:solidFill>
                <a:latin typeface="Roboto"/>
                <a:ea typeface="Roboto"/>
              </a:rPr>
              <a:t>Ссылка на репозиторий с исходными кодами: </a:t>
            </a:r>
            <a:r>
              <a:rPr b="0" lang="ru" sz="1700" spc="-1" strike="noStrike" u="sng">
                <a:solidFill>
                  <a:srgbClr val="0000ff"/>
                </a:solidFill>
                <a:uFillTx/>
                <a:latin typeface="Roboto"/>
                <a:ea typeface="Roboto"/>
                <a:hlinkClick r:id="rId1"/>
              </a:rPr>
              <a:t>https://github.com/Evchap</a:t>
            </a:r>
            <a:endParaRPr b="0" lang="en-US" sz="1700" spc="-1" strike="noStrike">
              <a:latin typeface="Arial"/>
            </a:endParaRPr>
          </a:p>
        </p:txBody>
      </p:sp>
      <p:pic>
        <p:nvPicPr>
          <p:cNvPr id="259" name="Google Shape;191;p37" descr=""/>
          <p:cNvPicPr/>
          <p:nvPr/>
        </p:nvPicPr>
        <p:blipFill>
          <a:blip r:embed="rId2"/>
          <a:srcRect l="30651" t="28557" r="28527" b="10490"/>
          <a:stretch/>
        </p:blipFill>
        <p:spPr>
          <a:xfrm>
            <a:off x="2166120" y="1437480"/>
            <a:ext cx="3594240" cy="2311200"/>
          </a:xfrm>
          <a:prstGeom prst="rect">
            <a:avLst/>
          </a:prstGeom>
          <a:ln>
            <a:noFill/>
          </a:ln>
        </p:spPr>
      </p:pic>
      <p:sp>
        <p:nvSpPr>
          <p:cNvPr id="260" name="CustomShape 3"/>
          <p:cNvSpPr/>
          <p:nvPr/>
        </p:nvSpPr>
        <p:spPr>
          <a:xfrm>
            <a:off x="500760" y="441360"/>
            <a:ext cx="8519760" cy="747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3400" spc="-1" strike="noStrike">
                <a:solidFill>
                  <a:srgbClr val="000000"/>
                </a:solidFill>
                <a:latin typeface="Roboto"/>
                <a:ea typeface="Roboto"/>
              </a:rPr>
              <a:t>Что получилось</a:t>
            </a:r>
            <a:endParaRPr b="0" lang="en-US" sz="3400" spc="-1" strike="noStrike">
              <a:latin typeface="Arial"/>
            </a:endParaRPr>
          </a:p>
        </p:txBody>
      </p:sp>
      <p:pic>
        <p:nvPicPr>
          <p:cNvPr id="261" name="" descr=""/>
          <p:cNvPicPr/>
          <p:nvPr/>
        </p:nvPicPr>
        <p:blipFill>
          <a:blip r:embed="rId3"/>
          <a:stretch/>
        </p:blipFill>
        <p:spPr>
          <a:xfrm>
            <a:off x="1047960" y="1280160"/>
            <a:ext cx="6906960" cy="38847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500400" y="441000"/>
            <a:ext cx="8519760" cy="130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3400" spc="-1" strike="noStrike">
                <a:solidFill>
                  <a:srgbClr val="000000"/>
                </a:solidFill>
                <a:latin typeface="Roboto"/>
                <a:ea typeface="Roboto"/>
              </a:rPr>
              <a:t>Выводы и планы по развитию</a:t>
            </a:r>
            <a:endParaRPr b="0" lang="en-US" sz="3400" spc="-1" strike="noStrike">
              <a:latin typeface="Arial"/>
            </a:endParaRPr>
          </a:p>
        </p:txBody>
      </p:sp>
      <p:graphicFrame>
        <p:nvGraphicFramePr>
          <p:cNvPr id="263" name="Table 2"/>
          <p:cNvGraphicFramePr/>
          <p:nvPr/>
        </p:nvGraphicFramePr>
        <p:xfrm>
          <a:off x="952560" y="2058840"/>
          <a:ext cx="7238160" cy="1371240"/>
        </p:xfrm>
        <a:graphic>
          <a:graphicData uri="http://schemas.openxmlformats.org/drawingml/2006/table">
            <a:tbl>
              <a:tblPr/>
              <a:tblGrid>
                <a:gridCol w="489240"/>
                <a:gridCol w="6749280"/>
              </a:tblGrid>
              <a:tr h="68580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700" spc="-1" strike="noStrike">
                          <a:solidFill>
                            <a:srgbClr val="013d85"/>
                          </a:solidFill>
                          <a:latin typeface="Roboto"/>
                          <a:ea typeface="Roboto"/>
                        </a:rPr>
                        <a:t>1.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999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Дополнить проект mp3-записями известных музыкантов.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999cc"/>
                    </a:solidFill>
                  </a:tcPr>
                </a:tc>
              </a:tr>
              <a:tr h="68580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700" spc="-1" strike="noStrike">
                          <a:solidFill>
                            <a:srgbClr val="013d85"/>
                          </a:solidFill>
                          <a:latin typeface="Roboto"/>
                          <a:ea typeface="Roboto"/>
                        </a:rPr>
                        <a:t>2.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Развернуть Django-сайт на хостинге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1"/>
          <p:cNvSpPr/>
          <p:nvPr/>
        </p:nvSpPr>
        <p:spPr>
          <a:xfrm>
            <a:off x="956160" y="528480"/>
            <a:ext cx="7558560" cy="545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4900" spc="-1" strike="noStrike">
                <a:solidFill>
                  <a:srgbClr val="ffffff"/>
                </a:solidFill>
                <a:latin typeface="Roboto"/>
                <a:ea typeface="Roboto"/>
              </a:rPr>
              <a:t>Спасибо за внимание!</a:t>
            </a:r>
            <a:br/>
            <a:br/>
            <a:endParaRPr b="0" lang="en-US" sz="4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2022-05-25T20:59:52Z</dcterms:modified>
  <cp:revision>5</cp:revision>
  <dc:subject/>
  <dc:title/>
</cp:coreProperties>
</file>